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2" r:id="rId4"/>
  </p:sldMasterIdLst>
  <p:notesMasterIdLst>
    <p:notesMasterId r:id="rId25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9"/>
    <p:sldId id="272" r:id="rId8"/>
    <p:sldId id="273" r:id="rId7"/>
    <p:sldId id="274" r:id="rId6"/>
    <p:sldId id="275" r:id="rId5"/>
    <p:sldId id="276" r:id="rId30"/>
    <p:sldId id="27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2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outlineViewPr>
    <p:cViewPr>
      <p:scale>
        <a:sx n="33" d="100"/>
        <a:sy n="33" d="100"/>
      </p:scale>
      <p:origin x="0" y="-588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7.xml"/><Relationship Id="rId9" Type="http://schemas.openxmlformats.org/officeDocument/2006/relationships/slide" Target="slides/slide16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1.xml"/><Relationship Id="rId31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61595-59EE-46FE-9AD4-893BD3CF30D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6E22B-85CA-45C7-86A8-A17C38B96A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007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CF70A2-C0AD-4D28-B3EB-C43D221AD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EE984A-7865-4092-9DD1-FA065CFE1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3B8F172B-7E78-455D-98E3-82DF61843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F50D9895-086D-4E52-B2BB-4B8D7993E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441336E-0F59-4E8E-A2B5-D62EDA718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7B873BD-A26D-4CB5-BED3-D95C908B8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0" y="1066800"/>
            <a:ext cx="5257800" cy="2833528"/>
          </a:xfrm>
        </p:spPr>
        <p:txBody>
          <a:bodyPr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400" spc="120">
                <a:cs typeface="Posterama" panose="020B0504020200020000" pitchFamily="34" charset="0"/>
              </a:rPr>
              <a:t>Click to edit Master title style</a:t>
            </a:r>
            <a:endParaRPr lang="en-US" sz="4400" spc="120" dirty="0">
              <a:cs typeface="Posterama" panose="020B0504020200020000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F5E2EC6-688E-4202-BA23-F29BE1145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599" y="4074784"/>
            <a:ext cx="5257799" cy="1640216"/>
          </a:xfrm>
        </p:spPr>
        <p:txBody>
          <a:bodyPr anchor="t"/>
          <a:lstStyle>
            <a:lvl1pPr marL="0" indent="0">
              <a:buNone/>
              <a:defRPr/>
            </a:lvl1pPr>
          </a:lstStyle>
          <a:p>
            <a:pPr algn="l"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8709CFE-7328-4CEC-A7C8-D6C8B18D6C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3232" y="740664"/>
            <a:ext cx="4745736" cy="539496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42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A7506A-23D3-4E50-B632-7D75C652F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82A1112-7DAD-487B-84EF-9F2B9F4A6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52E39B3F-C08C-424B-908B-8A3E017C6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80050DD2-3323-4041-91C6-8BFA52F38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FA34E2F-6A4E-4CFF-ACA1-994BA9CED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4276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8B9C0BE-DE84-42B6-9610-684AC81E5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4953000" cy="21305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pc="120">
                <a:cs typeface="Posterama" panose="020B0504020200020000" pitchFamily="34" charset="0"/>
              </a:rPr>
              <a:t>Click to edit Master title style</a:t>
            </a:r>
            <a:endParaRPr lang="en-US" spc="120" dirty="0">
              <a:cs typeface="Posterama" panose="020B0504020200020000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95C06E1-E8B8-4F7A-8EB7-E594AFEE6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3352800"/>
            <a:ext cx="4953000" cy="2514600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340614F-452E-4022-B834-FFDC63466D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4848" y="813816"/>
            <a:ext cx="4617720" cy="25511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9F0368A-AE83-428C-ABF7-694386AB62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84848" y="3465576"/>
            <a:ext cx="4617720" cy="25511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253A4E8-5A11-4C9C-8FC8-9D78AB5D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7" name="Picture 6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77D633C1-4A46-44EA-B1E7-96EA9C44C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8" name="Picture 7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89667DF8-B73B-497B-95A4-5212EE667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3EA3C8E6-EF45-4F18-A0CB-F0527540D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192"/>
            <a:ext cx="4953000" cy="21305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pc="120">
                <a:cs typeface="Posterama" panose="020B0504020200020000" pitchFamily="34" charset="0"/>
              </a:rPr>
              <a:t>Click to edit Master title style</a:t>
            </a:r>
            <a:endParaRPr lang="en-US" spc="120" dirty="0">
              <a:cs typeface="Posterama" panose="020B0504020200020000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0CA1F7B-7E1E-4745-8E06-38C79906E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4912"/>
            <a:ext cx="4952681" cy="3410712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027CA11-7EE7-4C3B-AF4D-F50756E4EF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86600" y="568324"/>
            <a:ext cx="4727448" cy="5715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26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9FC3DD-D5CF-4D3A-AD62-2D9AD0EA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A543720-E70E-42D7-9835-39FDFE40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77000" y="0"/>
            <a:ext cx="5711952" cy="5071492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7D5BA9D0-B4FD-4CD7-8F18-76506E972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7D2067D9-0848-4BAA-996E-BE1236E04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1B87D7AA-E59B-441F-B5EC-E9828C1ED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876" y="304801"/>
            <a:ext cx="9601200" cy="2301875"/>
          </a:xfrm>
        </p:spPr>
        <p:txBody>
          <a:bodyPr anchor="b">
            <a:normAutofit/>
          </a:bodyPr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r>
              <a:rPr lang="en-US" sz="4400" spc="120">
                <a:cs typeface="Posterama" panose="020B0504020200020000" pitchFamily="34" charset="0"/>
              </a:rPr>
              <a:t>Click to edit Master title style</a:t>
            </a:r>
            <a:endParaRPr lang="en-US" sz="4400" spc="120" dirty="0">
              <a:cs typeface="Posterama" panose="020B0504020200020000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0806D6C-F8DC-4FFA-9381-5620B7391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976" y="2743201"/>
            <a:ext cx="8763001" cy="9144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pPr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5095252-A020-4AA1-9BB3-013288AE3F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886200"/>
            <a:ext cx="4059936" cy="29718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7FBAD15-0D00-46EC-B530-EF6195F42D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50792" y="3886200"/>
            <a:ext cx="4087368" cy="29718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0F93F034-901D-43B1-89E9-6291A86787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32064" y="3886200"/>
            <a:ext cx="4059936" cy="29718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52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06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62BDFDF-C29B-490D-B7E4-913596711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33B2E6-29D0-4249-A0A5-82013CE16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13AED3CD-2B31-49BC-BC04-850E0AD36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D5FE2C96-BB8F-4A14-88E4-C871D91E2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F2C506E-3A15-4D88-8C7E-AE65D21F1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52D6351-AB6F-490B-97F2-D51C1478A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1223" y="1066800"/>
            <a:ext cx="5367527" cy="2833528"/>
          </a:xfrm>
        </p:spPr>
        <p:txBody>
          <a:bodyPr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400" spc="120">
                <a:cs typeface="Posterama" panose="020B0504020200020000" pitchFamily="34" charset="0"/>
              </a:rPr>
              <a:t>Click to edit Master title style</a:t>
            </a:r>
            <a:endParaRPr lang="en-US" sz="4400" spc="120" dirty="0">
              <a:cs typeface="Posterama" panose="020B0504020200020000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F760311-9637-47CC-B0E7-6C8C307C6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1223" y="4074784"/>
            <a:ext cx="5367526" cy="1640216"/>
          </a:xfrm>
        </p:spPr>
        <p:txBody>
          <a:bodyPr anchor="t"/>
          <a:lstStyle>
            <a:lvl1pPr marL="0" indent="0">
              <a:buNone/>
              <a:defRPr/>
            </a:lvl1pPr>
          </a:lstStyle>
          <a:p>
            <a:pPr algn="l"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9734E01-4E64-484E-9728-EF69422CB1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3448" y="1014984"/>
            <a:ext cx="4123944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7CA897AB-A280-4B5A-BEF5-C5D11D6535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13448" y="3511296"/>
            <a:ext cx="4123944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01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541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329184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3291840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361" y="1752600"/>
            <a:ext cx="329184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361" y="2666999"/>
            <a:ext cx="3291840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7999667-FDE9-4EC7-9EF8-E64C5DA4B1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1466" y="1757319"/>
            <a:ext cx="329184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4466FB3-35A6-4045-8C46-5F6399D7B4C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466" y="2671718"/>
            <a:ext cx="3291840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47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E62CE4B-3BFB-4501-B59A-0ED68CF6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F608493-BDCD-43BD-A3CC-24E75027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192"/>
            <a:ext cx="4524956" cy="21305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pc="120">
                <a:cs typeface="Posterama" panose="020B0504020200020000" pitchFamily="34" charset="0"/>
              </a:rPr>
              <a:t>Click to edit Master title style</a:t>
            </a:r>
            <a:endParaRPr lang="en-US" spc="120" dirty="0">
              <a:cs typeface="Posterama" panose="020B0504020200020000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3B9F353-002B-4A4D-A316-70D952EDA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7297"/>
            <a:ext cx="4524664" cy="3412969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890B2B-FFC6-4C7C-A617-67144F1E3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255" y="0"/>
            <a:ext cx="5115697" cy="6858000"/>
          </a:xfrm>
          <a:prstGeom prst="rect">
            <a:avLst/>
          </a:prstGeom>
        </p:spPr>
      </p:pic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CD8768C-8806-4DE0-82CC-275A2EC6D4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79592" y="74066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68CB9DF9-86EB-48CF-B212-F2B290C56F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78824" y="74066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554B2207-3993-41B6-AF63-EBB48DACAB8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79592" y="352958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DE0340D8-BC7E-4431-A7A7-8D634C8A19F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69680" y="352958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41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7F5322-A9D1-4D98-A1BC-9178604AB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70C34FA-2551-4FBC-8628-350654823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394623"/>
            <a:ext cx="5996619" cy="2131033"/>
          </a:xfrm>
        </p:spPr>
        <p:txBody>
          <a:bodyPr anchor="ctr">
            <a:normAutofit/>
          </a:bodyPr>
          <a:lstStyle/>
          <a:p>
            <a:pPr algn="l"/>
            <a:r>
              <a:rPr lang="en-US" sz="4400">
                <a:cs typeface="Posterama" panose="020B0504020200020000" pitchFamily="34" charset="0"/>
              </a:rPr>
              <a:t>Click to edit Master title style</a:t>
            </a:r>
            <a:endParaRPr lang="en-US" sz="4400" dirty="0">
              <a:cs typeface="Posterama" panose="020B0504020200020000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58CD79-85EA-4D75-A743-D3DB777D1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8194385" y="20961"/>
            <a:ext cx="3997615" cy="6816079"/>
            <a:chOff x="8059620" y="41922"/>
            <a:chExt cx="3997615" cy="6816077"/>
          </a:xfrm>
        </p:grpSpPr>
        <p:pic>
          <p:nvPicPr>
            <p:cNvPr id="9" name="Picture 8" descr="A picture containing sitting, dark, front, cat&#10;&#10;Description automatically generated">
              <a:extLst>
                <a:ext uri="{FF2B5EF4-FFF2-40B4-BE49-F238E27FC236}">
                  <a16:creationId xmlns:a16="http://schemas.microsoft.com/office/drawing/2014/main" id="{50D423CE-750A-48C7-B236-F510652FED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10" name="Picture 9" descr="A picture containing sitting, dark, front, cat&#10;&#10;Description automatically generated">
              <a:extLst>
                <a:ext uri="{FF2B5EF4-FFF2-40B4-BE49-F238E27FC236}">
                  <a16:creationId xmlns:a16="http://schemas.microsoft.com/office/drawing/2014/main" id="{F198B21E-DBB4-4FAF-85E2-0929E6BFC0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AD9BB445-59C3-4B51-9237-1F7AC9B09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5429" y="381000"/>
            <a:ext cx="3997745" cy="2133600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algn="l"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69566B9-A8AF-4476-A32A-4AEFC46430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3816" y="2670048"/>
            <a:ext cx="5175504" cy="363931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10391AAE-35A8-4BEC-BF35-22153B1436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90488" y="2670048"/>
            <a:ext cx="5175504" cy="363931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6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819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1359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947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212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798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9860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08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46" r:id="rId4"/>
    <p:sldLayoutId id="2147483734" r:id="rId5"/>
    <p:sldLayoutId id="2147483752" r:id="rId6"/>
    <p:sldLayoutId id="2147483737" r:id="rId7"/>
    <p:sldLayoutId id="2147483750" r:id="rId8"/>
    <p:sldLayoutId id="2147483745" r:id="rId9"/>
    <p:sldLayoutId id="2147483751" r:id="rId10"/>
    <p:sldLayoutId id="2147483733" r:id="rId11"/>
    <p:sldLayoutId id="2147483744" r:id="rId12"/>
    <p:sldLayoutId id="214748373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defRPr sz="3000" b="1">
                <a:solidFill>
                  <a:srgbClr val="21363B"/>
                </a:solidFill>
                <a:latin typeface="Sabon Next LT"/>
              </a:defRPr>
            </a:pPr>
            <a:r>
              <a:t>SKILLORBIT: EVENT BOOKING &amp;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Box 4"/>
          <p:cNvSpPr txBox="1"/>
          <p:nvPr/>
        </p:nvSpPr>
        <p:spPr>
          <a:xfrm>
            <a:off x="2286000" y="1920240"/>
            <a:ext cx="7616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58468"/>
                </a:solidFill>
                <a:latin typeface="Avenir Next LT Pro"/>
              </a:defRPr>
            </a:pPr>
            <a:r>
              <a:t>Web Development Capstone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  <a:latin typeface="Avenir Next LT Pro"/>
              </a:defRPr>
            </a:pPr>
            <a:r>
              <a:t>A Modern, Concurrency-Safe Full-Stack MERN Event Ticketing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017520"/>
            <a:ext cx="761695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3154680"/>
            <a:ext cx="72511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PRESENTED BY</a:t>
            </a:r>
          </a:p>
          <a:p>
            <a:pPr algn="ctr"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Cherukuri Venkata Karthikeya (Reg. No: 22MIS7028)</a:t>
            </a:r>
          </a:p>
          <a:p>
            <a:pPr algn="ctr">
              <a:defRPr sz="1200">
                <a:solidFill>
                  <a:srgbClr val="64748B"/>
                </a:solidFill>
                <a:latin typeface="Avenir Next LT Pro"/>
              </a:defRPr>
            </a:pPr>
            <a:r>
              <a:t>Full-Stack Developer &amp; UI/UX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363B"/>
                </a:solidFill>
                <a:latin typeface="Avenir Next LT Pro"/>
              </a:defRPr>
            </a:pPr>
            <a:r>
              <a:t>VIT-AP UNIVERSITY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Department of Computer Science &amp; Engineering | Academic Year: 2026–2027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5720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Avenir Next LT Pro"/>
              </a:defRPr>
            </a:pPr>
            <a:r>
              <a:t>LIVE DEPLOYED APPLICATION:</a:t>
            </a:r>
          </a:p>
          <a:p>
            <a:pPr>
              <a:defRPr sz="1200" b="1">
                <a:solidFill>
                  <a:srgbClr val="1E3A8A"/>
                </a:solidFill>
                <a:latin typeface="Avenir Next LT Pro"/>
              </a:defRPr>
            </a:pPr>
            <a:r>
              <a:t>https://skillorbit-event-booking-system.vercel.app/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WHY EVENT BOOKING SYSTEMS FAIL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Operational Vulnerabilities in Traditional Systems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High-Concurrency Race Conditions: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Simultaneous booking requests during peak ticket drops cause overbooking beyond actual venue capacity.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Seat Hoarding &amp; Lack of Bounds: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Absence of per-user reservation limits allows individuals or automated scripts to hoard entire blocks of tickets.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Opaque Attendance Data: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Organizers lack real-time visibility into registration velocity, category distribution, and seating utilization.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Manual Spreadsheet Chaos: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Campus and corporate symposiums rely on error-prone Google Sheets or paper rosters for manual gate check-in.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Lack of Immediate Digital Pass: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Attendees receive delayed or fragmented confirmation without printable admission credentials.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The Core Engineering Question</a:t>
            </a:r>
          </a:p>
          <a:p>
            <a:pPr>
              <a:defRPr sz="1300" i="1">
                <a:solidFill>
                  <a:srgbClr val="758468"/>
                </a:solidFill>
                <a:latin typeface="Sabon Next LT"/>
              </a:defRPr>
            </a:pPr>
            <a:r>
              <a:t>"How can we engineer a unified, decoupled full-stack platform that guarantees atomic concurrency control, fair inventory allocation, and administrative analytics without database thread-locking or write starvation?"</a:t>
            </a:r>
          </a:p>
          <a:p>
            <a:pPr>
              <a:defRPr sz="1300" b="1">
                <a:solidFill>
                  <a:srgbClr val="21363B"/>
                </a:solidFill>
                <a:latin typeface="Avenir Next LT Pro"/>
              </a:defRPr>
            </a:pPr>
            <a:r>
              <a:t>Key System Requirements:</a:t>
            </a:r>
          </a:p>
          <a:p>
            <a:r>
              <a:rPr sz="1200" b="1">
                <a:solidFill>
                  <a:srgbClr val="059669"/>
                </a:solidFill>
                <a:latin typeface="Avenir Next LT Pro"/>
              </a:rPr>
              <a:t>✔ Atomic Seat Decrements: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Execute conditional updates so capacity never drops below 0.</a:t>
            </a:r>
          </a:p>
          <a:p>
            <a:r>
              <a:rPr sz="1200" b="1">
                <a:solidFill>
                  <a:srgbClr val="059669"/>
                </a:solidFill>
                <a:latin typeface="Avenir Next LT Pro"/>
              </a:rPr>
              <a:t>✔ Fair Allocation Limits: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Strict 10-ticket reservation ceiling per attendee per event.</a:t>
            </a:r>
          </a:p>
          <a:p>
            <a:r>
              <a:rPr sz="1200" b="1">
                <a:solidFill>
                  <a:srgbClr val="059669"/>
                </a:solidFill>
                <a:latin typeface="Avenir Next LT Pro"/>
              </a:rPr>
              <a:t>✔ Stateless Role Security: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JWT Bearer tokens protecting private attendee and admin APIs.</a:t>
            </a:r>
          </a:p>
          <a:p>
            <a:r>
              <a:rPr sz="1200" b="1">
                <a:solidFill>
                  <a:srgbClr val="059669"/>
                </a:solidFill>
                <a:latin typeface="Avenir Next LT Pro"/>
              </a:rPr>
              <a:t>✔ Instant Reporting: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Streaming RFC 4180 CSV generation for check-in audits.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SIX CORE TECHNICAL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1. Zero Overselling Guarantee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Implement atomic database-level seat decrementing using MongoDB conditional operations ($gte) to prevent negative capacity and race conditions under peak concurrent 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2. Fair Allocation &amp; Anti-Hoarding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Enforce strict reservation bounds capping individual attendee bookings at a maximum of 10 tickets per event, ensuring equitable campus event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3. Stateless Multi-Role Security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Architect a robust Role-Based Access Control (RBAC) model using JSON Web Tokens (JWT) and Bcrypt password hashing, segregating attendee routes from admin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718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0632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4. Instant Digital Boarding Passes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Generate unique, collision-resistant reference codes (EVT-YYYYMMDD-XXXX) and modal admission passes with QR stub simulation and printer stylesheet formatting.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5. Executive Visual Analytics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Embed an interactive telemetry engine using Recharts (Area and Donut charts) alongside one-click RFC 4180 CSV exports for physical check-in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572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6. 100% Automated Test Verification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Validate all functional workflows and defensive edge cases using a comprehensive automated test runner, ensuring zero defects across 77 integration test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Proposed Solution: SkillOrbit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Box 4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UNIFIED FULL-STACK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Attendee Discovery &amp; Ticketing Experience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Real-Time Event Discovery: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Multi-category filtering across conferences, workshops, and symposiums with debounced text search.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Instant Seat Decrementing: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Atomic reservations execute immediately without thread locking or stale inventory.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Digital Admission Passes: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Formatted pass modal complete with attendee details, reference codes, and print layout.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Self-Service Portal: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Personalized dashboard displaying upcoming schedule, booking history, and active tickets.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Zero-Friction Cancellation: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Attendees can cancel bookings with instant, automated restitution of seats back to the event pool.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Organizer Governance &amp; Analytics Engine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Full Event CRUD Lifecycle: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Create, update, draft, and publish events with dual-mode banner posters (local file uploads or remote URLs).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Live Business Intelligence: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Real-time KPI metrics on total bookings, capacity utilization %, revenue, and user accounts.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Visual Telemetry (Recharts):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AreaChart for monthly reservation trends and Donut PieChart for category distribution.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Streaming CSV Exports: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One-click download of RFC 4180 compliant attendee rosters and venue capacity audits.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Audit Trail Preservation: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Events with confirmed bookings are safely transitioned to cancelled status to prevent data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Key Platform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COMPREHENSIVE CAPSTONE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User Authentication &amp; Sessions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Bcrypt salted hashing (10 rounds), stateless Bearer JWT tokens, and automated Axios interceptors with persistent LocalStorage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Real-Time Inventory Badges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Dynamic status pills indicating 'Sold Out', 'Selling Fast' (&lt;20% seats remaining), or high availability calculated directly from live database 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Concurrency-Safe Reservations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Atomic conditional decrementing ($gte query + $inc) prevents double-booking and negative capacity under concurrent access.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718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0632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Personalized Attendee Dashboard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Real-time counters for active passes, upcoming event schedules, booking history, and dynamic event recommendations.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Administrative Command Center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Unified management console featuring event lifecycle toggles, protected capacity editing, and user account oversight.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4805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572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Automated CSV Reporting Engine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Server-side streaming generation of flattened RFC 4180 CSV files for physical venue gate check-in and capacity audits.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PRODUCTION-GRADE LIBRARIES &amp; FRAMEWORKS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68880"/>
                <a:gridCol w="1645920"/>
                <a:gridCol w="4572000"/>
              </a:tblGrid>
              <a:tr h="4876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Architectural Layer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Technology / Framework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Role &amp; Engineering Responsibility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Frontend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React 19 + Vite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19.0.0 / 8.3.1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Single Page Application with fast HMR and sub-second builds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UI Styling &amp; Icons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Tailwind CSS + Lucide React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3.4.17 / 1.16.0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Responsive styling, high-contrast system colors, accessible icons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Data Visualization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Recharts 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3.7.0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SVG AreaCharts for booking trends and PieCharts for 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Backend REST API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Node.js + Express.js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v20 LTS / 4.21.2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Asynchronous HTTP routing, middleware, controllers, error handling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Database &amp; ODM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MongoDB Atlas + Mongoose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Cloud M0 / 8.9.5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Document storage, atomic operations, compound &amp; text indexing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JWT + BcryptJS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9.0.2 / 2.4.3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Stateless HTTP Bearer token authorization and salted hashing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Media &amp;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Multer + json2csv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1.4.5 / 6.0.0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Local event banner uploads and RFC 4180 streaming CSV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Testing Suite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Native Node.js Test Runner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Node v20 Test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77-case automated E2E integration verification suite (npm test)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DECOUPLED MULTI-TIER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Tier 1: Client Presentation Layer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React 19 Single Page Application bundled with Vite 8. Implements responsive Tailwind CSS styling, AuthContext and ToastContext providers, and protected route wrappers.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Tier 2: Network &amp; API Gateway Layer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RESTful HTTP/JSON endpoints over HTTPS. Centralized Axios API services with request/response interceptors automatically injecting Bearer JWT headers.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7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Tier 3: Business Logic &amp; Middleware Layer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Express 4.21 application server running on Node.js v20. Modular routers protect endpoints with JWT authentication and strict role-based authorization (admin vs user).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Tier 4: Data Persistence &amp; Cloud Tier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MongoDB Atlas managed cloud replica set. Mongoose 8.9 ODM handles schema enforcement, compound query indexing, text search, and concurrency-safe atomic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Database Design &amp; 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NORMALIZED RELATIONAL DOCUMENT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834640"/>
                <a:gridCol w="2926080"/>
              </a:tblGrid>
              <a:tr h="10972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Entity / Collection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Key Schema Fields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Data Types &amp; Constraints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Relationships &amp; Indexing Strategy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Users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name, email, password, role, createdAt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email: Unique, Lowercase, Regex</a:t>
                      </a:r>
                    </a:p>
                    <a:p>
                      <a:r>
                        <a:t>password: Hashed (select: false)</a:t>
                      </a:r>
                    </a:p>
                    <a:p>
                      <a:r>
                        <a:t>role: enum ['user', 'admin']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1-to-Many with Bookings.</a:t>
                      </a:r>
                    </a:p>
                    <a:p>
                      <a:r>
                        <a:t>Unique Index on email.</a:t>
                      </a:r>
                    </a:p>
                    <a:p>
                      <a:r>
                        <a:t>Sub-10ms lookup latency.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Events Collection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title, description, date, venue, category, capacity, availableSeats, price, status, image, createdBy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capacity: Number (min: 1)</a:t>
                      </a:r>
                    </a:p>
                    <a:p>
                      <a:r>
                        <a:t>availableSeats: Number (min: 0)</a:t>
                      </a:r>
                    </a:p>
                    <a:p>
                      <a:r>
                        <a:t>status: ['published', 'draft', 'cancelled']</a:t>
                      </a:r>
                    </a:p>
                    <a:p>
                      <a:r>
                        <a:t>createdBy: ObjectId (Ref: User)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1-to-Many with Bookings.</a:t>
                      </a:r>
                    </a:p>
                    <a:p>
                      <a:r>
                        <a:t>Compound Index: { date: 1, status: 1 }.</a:t>
                      </a:r>
                    </a:p>
                    <a:p>
                      <a:r>
                        <a:t>Full-text Search: { title, desc, venue }.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Bookings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bookingReference, user, event, seatsBooked, totalPrice, status, createdAt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bookingReference: Unique String</a:t>
                      </a:r>
                    </a:p>
                    <a:p>
                      <a:r>
                        <a:t>seatsBooked: Number (1 to 10)</a:t>
                      </a:r>
                    </a:p>
                    <a:p>
                      <a:r>
                        <a:t>status: ['confirmed', 'cancelled']</a:t>
                      </a:r>
                    </a:p>
                    <a:p>
                      <a:r>
                        <a:t>user, event: ObjectId References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Many-to-1 with Users &amp; Events.</a:t>
                      </a:r>
                    </a:p>
                    <a:p>
                      <a:r>
                        <a:t>Compound Index: { user: 1, createdAt: -1 }.</a:t>
                      </a:r>
                    </a:p>
                    <a:p>
                      <a:r>
                        <a:t>Atomic capacity rollback on cancel.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User Authentication &amp; Authorization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STATELESS SECURITY WITH STRICT RBAC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Authentication Architecture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Input Validation: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Strict verification of name, email format, and password length (minimum 6 characters) on registration.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Cryptographic Hashing: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Passwords encrypted with bcryptjs using 10 salt rounds; excluded by default from query projections.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Signed JWT Tokens: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Stateless JSON Web Tokens signed with HMAC-SHA256, carrying user ID and role with 7-day expiration.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Token Interceptor: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Axios request interceptors inject 'Bearer &lt;token&gt;' headers on all authenticated API requests.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Session Resilience: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Automatic session restoration via LocalStorage and /api/auth/me profile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Role-Based Access Control (RBAC)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Granular Route Gates: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Express auth middleware verifies JWTs; authorize('admin') middleware restricts privileged operations.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Attendee Privileges: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Authenticated users can browse events, book up to 10 tickets, view digital passes, and cancel their own bookings.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Admin Privileges: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Administrators have exclusive access to event CRUD, capacity editing, platform telemetry, and CSV report downloads.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403 Forbidden Protection: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Unauthorized role access attempts return HTTP 403 Forbidden without exposing server details.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Client-Side Route Guards: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React Router protected routes redirect guests to /login and prevent attendee access to /admin/*.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Event Management &amp; Organizer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ADMINISTRATIVE EVENT 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Event CRUD &amp; Lifecycle Management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Full CRUD Operations: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Organizers create, preview, edit, publish, and delete events through a responsive management console.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Lifecycle States: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State machine controlling published (publicly visible), draft (staged work), and cancelled states.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Dual-Mode Media Banners: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Supports both direct local file image uploads via Multer and remote high-resolution image URLs.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Capacity Protection: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Validation guards prevent reducing event capacity below the number of already confirmed tickets.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Rich Event Metadata: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Structured capture of event title, schedule, venue location, category, ticket price, and descriptions.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Safe Deletion &amp; Audit Trail Protection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The Audit Risk: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Hard-deleting events with confirmed attendee reservations destroys historical financial and booking records.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Automatic State Transition: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When an admin attempts to delete an event with active bookings, the system transitions it to 'cancelled' status.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Safe Removal of Empty Events: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Unpublished drafts or concluded events with zero confirmed attendees are safely purged from the database.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Referential Integrity: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Guarantees zero orphaned booking documents and maintains historical reporting integrity.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Attendee Notification State: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Cancelled status is immediately reflected across all attendee dashboards and passes.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Event Discovery &amp; Real-Time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INTERACTIVE PUBLIC CATALOG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Dynamic Search &amp; Multi-Filter Engine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Category Filter Bar: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Filter events by domain: All, Conference, Workshop, Concert, College Fest, Hackathon, or Symposium.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Debounced Keyword Search: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Instant 250ms debounced search querying across event titles, venue locations, and descriptions.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Chronological Scheduling: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Events sorted chronologically; past events are automatically flagged or excluded from public discovery.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Zero-State Graceful Fallback: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Clean empty state views with an intuitive 'Clear All Filters' action when queries return zero records.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Mobile-Optimized Cards: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Responsive grid layout (1 col mobile, 2 col tablet, 3 col desktop) with zero UI layout shift.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Live Inventory &amp; Availability Indicators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Real-Time Capacity Counters: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Displays exact available seats vs total venue capacity (e.g., '17 of 20 seats remaining').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Sold Out Status Guard: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Immediate 'Sold Out' badge with disabled action buttons when availableSeats drops to 0.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Selling Fast Indicator: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Amber warning banner activates when remaining capacity falls below 20%, encouraging early booking.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Visual Progress Fill: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Clean progress bar showing percentage of venue capacity currently occupied.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Event Status Badges: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Distinct status indicators differentiating published, concluded, and cancelled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Ticket Booking Workflow &amp; Digital Passes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FIVE-STEP FRICTIONLESS RESERVATION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End-to-End Booking Lifecycle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Step 1 — Event Selection: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Attendee navigates the catalog, reviews event details, and initiates ticket booking.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Step 2 — Seat Quantity: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User selects ticket count (1 to 10 seats) with live pricing calculation in an accessible modal.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Step 3 — Atomic Decrement: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Client dispatches POST /api/bookings; backend executes conditional atomic seat update.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Step 4 — Reference Generation: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System generates a unique, human-readable code: EVT-YYYYMMDD-XXXX.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Step 5 — Pass Presentation: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Instant digital boarding pass rendered on-screen with QR stub simulation and print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Digital Boarding Pass Architecture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Unique Reference Identifier: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Collision-resistant formatted code (e.g., EVT-20261004-C323DE) enabling rapid lookups.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Verified Attendee Credentials: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Displays authenticated attendee name, registered email, and timestamped transaction log.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Venue &amp; Schedule Details: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Shows event venue, scheduled calendar date, and confirmed ticket count.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Simulated Gate Check-In QR Stub: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Visual digital barcode stub facilitating rapid physical gatekeeper validation.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Printable CSS Layout: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Includes window.print() stylesheet optimization for paper or PDF ticket issuance.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Concurrency Control &amp; Seat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ELIMINATING RACE CONDITIONS AT THE DATABASE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363B"/>
                </a:solidFill>
                <a:latin typeface="Sabon Next LT"/>
              </a:defRPr>
            </a:pPr>
            <a:r>
              <a:t>MongoDB Atomic Conditional Decrement Implementation:</a:t>
            </a:r>
          </a:p>
          <a:p>
            <a:pPr>
              <a:defRPr sz="1100" b="1">
                <a:solidFill>
                  <a:srgbClr val="1E3A8A"/>
                </a:solidFill>
                <a:latin typeface="Consolas"/>
              </a:defRPr>
            </a:pPr>
            <a:r>
              <a:t>const event = await Event.findOneAndUpdate(</a:t>
            </a:r>
            <a:br/>
            <a:r>
              <a:t>  { _id: eventId, status: 'published', availableSeats: { $gte: requestedSeats } },</a:t>
            </a:r>
            <a:br/>
            <a:r>
              <a:t>  { $inc: { availableSeats: -requestedSeats } },</a:t>
            </a:r>
            <a:br/>
            <a:r>
              <a:t>  { new: true }</a:t>
            </a:r>
            <a:br/>
            <a:r>
              <a:t>);</a:t>
            </a:r>
          </a:p>
          <a:p>
            <a:pPr>
              <a:defRPr sz="1100" i="1">
                <a:solidFill>
                  <a:srgbClr val="059669"/>
                </a:solidFill>
                <a:latin typeface="Avenir Next LT Pro"/>
              </a:defRPr>
            </a:pPr>
            <a:r>
              <a:t>Guarantees: If availableSeats &lt; requestedSeats, the operation atomically matches 0 documents and returns null without decrementing.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11880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Why Naive Read-Then-Write Approaches Fail: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✗ Thread Interleaving: Two users read availableSeats = 1 at the same millisecond.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✗ Race Condition: Both proceed to decrement and confirm bookings.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✗ Overbooking Deficit: Capacity drops to -1, creating a physical seating deficit.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7033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363B"/>
                </a:solidFill>
                <a:latin typeface="Sabon Next LT"/>
              </a:defRPr>
            </a:pPr>
            <a:r>
              <a:t>The SkillOrbit Concurrency Guarantee:</a:t>
            </a:r>
          </a:p>
          <a:p>
            <a:pPr>
              <a:defRPr sz="1100">
                <a:solidFill>
                  <a:srgbClr val="059669"/>
                </a:solidFill>
                <a:latin typeface="Avenir Next LT Pro"/>
              </a:defRPr>
            </a:pPr>
            <a:r>
              <a:t>✔ Document-Level Atomicity: Evaluated directly at the database engine level.</a:t>
            </a:r>
          </a:p>
          <a:p>
            <a:pPr>
              <a:defRPr sz="1100">
                <a:solidFill>
                  <a:srgbClr val="059669"/>
                </a:solidFill>
                <a:latin typeface="Avenir Next LT Pro"/>
              </a:defRPr>
            </a:pPr>
            <a:r>
              <a:t>✔ Single Winner: Exactly one concurrent request succeeds; others receive clean 400 errors.</a:t>
            </a:r>
          </a:p>
          <a:p>
            <a:pPr>
              <a:defRPr sz="1100">
                <a:solidFill>
                  <a:srgbClr val="059669"/>
                </a:solidFill>
                <a:latin typeface="Avenir Next LT Pro"/>
              </a:defRPr>
            </a:pPr>
            <a:r>
              <a:t>✔ Automatic Rollback: Booking cancellations execute $inc: { availableSeats: +N }.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Attendee Dashboard &amp; Self-Service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PERSONALIZED ACCOUNT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Personalized Metrics &amp; Schedules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Total Reservations KPI: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Live counter calculating all event reservations created by the authenticated user.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Active Passes Metric: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Real-time count of confirmed upcoming admissions ready for physical gate check-in.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Cancelled Reservations Log: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Transparent accounting of cancelled bookings for audit history.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Upcoming Schedules Section: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Chronological listing of confirmed upcoming events with dates, times, and venues.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Discovery Recommendations: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Dynamic sidebar suggesting newly scheduled campus symposiums and tech workshops.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Self-Service Booking Management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My Bookings History: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Comprehensive tabular record showing reference IDs, event names, seat counts, and status pills.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On-Demand Ticket Viewing: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One-click 'View Pass' action redisplays the digital modal pass complete with printable view.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One-Click Self-Cancellation: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Attendees can independently cancel reservations without contacting event staff.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Atomic Seat Restitution: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Cancellation immediately releases held seats back into the event inventory for peers.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Defensive Cancellation Guard: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Validation prevents cancelling past events or already cancelled bookings.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Admin Dashboard &amp; Visual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REAL-TIME TELEMETRY WITH RECHARTS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Executive KPI Metrics Suite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Total Scheduled Events: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Aggregated inventory of published and draft symposiums across all categories.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Total Tickets Booked: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Cumulative seat reservations across the platform calculated directly from active bookings.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Capacity Utilization Rate: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Percentage metric calculating booked seats against total venue capacity across all events.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Registered User Accounts: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Total registered attendee and administrative accounts in the database.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Simulated Revenue Metric: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Financial summation calculated from confirmed ticket volume and ticket pricing tiers.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Interactive Recharts Visualizations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Monthly Trends (AreaChart):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6-month historical curve visualizing reservation volume and attendee velocity over time.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Category Breakdown (Donut Chart):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Pie chart illustrating event distribution across Conference, Workshop, and Symposium categories.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Dynamic Pipeline Aggregation: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Backend MongoDB pipelines aggregate trends directly from live timestamps.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SVG Vector Rendering: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Lightweight, responsive charts featuring interactive hover tooltips and accessible color contrasts.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Zero Third-Party Trackers: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Client-side rendering preserves strict attendee privacy with zero external tracking scripts.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Administrative Reporting &amp; CSV Exports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ONE-CLICK DATA PORTABILITY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Attendee Roster CSV Report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Dedicated Endpoint: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GET /api/reports/bookings/csv (Guarded by admin authorization).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Structured Fields: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Booking Reference, Attendee Name, Attendee Email, Event Title, Event Date, Seats Booked, Total Amount, Booking Date.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Operational Value: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Generates instant physical gate check-in rosters for admission verification and roll call.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Flattened JSON2CSV Stream: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Transforms populated MongoDB document hierarchies into clean flat tabular rows.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Streaming HTTP Response: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Streams text/csv with Content-Disposition attachment headers directly to browser.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Event Occupancy Summary CSV Report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Dedicated Endpoint: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GET /api/reports/events/csv (Guarded by admin authorization).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Structured Fields: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Event ID, Event Title, Category, Date, Venue, Total Capacity, Available Seats, Booked Seats, Occupancy Percentage, Status.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Operational Value: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Provides administrative audit records evaluating venue utilization and scheduling popularity.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RFC 4180 Compliance: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Strict adherence to comma-separated formatting standards, ensuring flawless parsing in Microsoft Excel, Google Sheets, and LibreOffice.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Instant Generation: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Executes in sub-100ms across all events without background batch delays.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Security Architecture &amp; Defensive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FIVE-LAYER SYSTEM HARDENING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361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1363B"/>
                </a:solidFill>
                <a:latin typeface="Sabon Next LT"/>
              </a:defRPr>
            </a:pPr>
            <a:r>
              <a:t>1. Password Security &amp; Hashing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Bcrypt password hashing with 10 salt rounds. Passwords are never stored in plain text and are excluded from query projections via Mongoose select: false.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1363B"/>
                </a:solidFill>
                <a:latin typeface="Sabon Next LT"/>
              </a:defRPr>
            </a:pPr>
            <a:r>
              <a:t>2. Stateless JWT Authorization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Cryptographically signed HMAC-SHA256 bearer tokens with 7-day expiration. Role claims verified on all protected attendee and administrative endpoints.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649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1363B"/>
                </a:solidFill>
                <a:latin typeface="Sabon Next LT"/>
              </a:defRPr>
            </a:pPr>
            <a:r>
              <a:t>3. NoSQL Injection Prevention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Strict Mongoose schema type-casting and object sanitization strip unauthorized MongoDB query operators ($gt, $where) from user inputs.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793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1363B"/>
                </a:solidFill>
                <a:latin typeface="Sabon Next LT"/>
              </a:defRPr>
            </a:pPr>
            <a:r>
              <a:t>4. Audit Trail Preservation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Soft-cancellation safeguards prevent hard deletion of events with active bookings, eliminating orphaned records and preserving financial history.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1363B"/>
                </a:solidFill>
                <a:latin typeface="Sabon Next LT"/>
              </a:defRPr>
            </a:pPr>
            <a:r>
              <a:t>5. Zero Credential Exposure</a:t>
            </a:r>
          </a:p>
          <a:p>
            <a:pPr>
              <a:defRPr sz="1100">
                <a:solidFill>
                  <a:srgbClr val="64748B"/>
                </a:solidFill>
                <a:latin typeface="Avenir Next LT Pro"/>
              </a:defRPr>
            </a:pPr>
            <a:r>
              <a:t>Environment isolation via .env files strictly excluded from source control. Automated git audits ensure zero secret exposure in public repositories.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UI Architecture &amp; Screenshot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CLEAN RESPONSIVE EXPERIENCE &amp; SUBMISSION GUIDE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3657600"/>
                <a:gridCol w="3200400"/>
              </a:tblGrid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Application View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Route Path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Key Interface Components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Verified Functional Capability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Home Landing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Centered hero, value guarantees, capability cards, developer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Responsive value proposition with direct CTA buttons and developer bio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Events Catalog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/events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Search bar, category pills, real-time availability badges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Debounced keyword search and category filtering with instant updates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Event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/events/:id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Event schedule, venue, capacity progress bar, booking 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Detailed event information display with availability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Ticket Booking Dialog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Modal Popup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Seat quantity selector (1-10), dynamic price tally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Concurrency-safe seat selection with instantaneous atomic reservation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Digital Ticket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Modal Popup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Attendee name, reference code, QR stub, print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Modal admission pass complete with printer-friendly styling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Attendee Dashboard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/dashboard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KPI counters, upcoming schedule list, pass preview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Personalized attendee portal with schedule tracking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My Bookings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/my-bookings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Reservation history table, status badges, cancel 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Complete booking history with one-click cancellation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Admin Dashboard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/admin/dashboard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KPI metric cards, Recharts Area &amp; Donut charts, CSV buttons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Live telemetry console with one-click CSV export streaming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Manage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/admin/events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Event CRUD table, lifecycle toggles, safe cancellation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Organizer console for publishing, updating, and archiving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Testing Methodology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77/77 AUTOMATED E2E TEST CASES PASSED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194560"/>
                <a:gridCol w="1280160"/>
                <a:gridCol w="4937760"/>
                <a:gridCol w="1371600"/>
              </a:tblGrid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Section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Testing Domain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Test Cases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Validated Engineering Requirements &amp; Edge Cases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venir Next LT Pro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1363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Health &amp;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2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HTTP 200 health check, active MongoDB Atlas replica connection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Auth Edge Cases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11 Cases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Missing fields, weak password (&lt;6), duplicate email, tampered JWT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RBAC Route 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12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Attendee 403 blocks on admin dashboard, user list, and CSV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Event Management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8 Cases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Public catalog list, search, category filter, negative capacity checks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Ticket Concurrency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13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0/negative seats, float values, &gt;10 seat limits, draft event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Booking Ownership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4 Cases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Owner pass view, reference code lookup, non-owner 403 blocks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Cancel &amp;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5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Atomic seat restoration, double cancellation blocks, 404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User Dashboard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3 Cases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Personal history list, cancelled count accuracy, upcoming metrics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Admin &amp; CSV Exports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14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Dashboard KPIs, monthly trends, category pie, RFC 4180 headers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Safe Event Archival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5 Cases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363B"/>
                          </a:solidFill>
                          <a:latin typeface="Avenir Next LT Pro"/>
                        </a:defRPr>
                      </a:pPr>
                      <a:r>
                        <a:t>Delete protection on booked events, cancellation transition, cleanup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Avenir Next LT Pro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F4F2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Production 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CLOUD TOPOLOGY &amp; OPERATIONAL READINESS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Multi-Tier Cloud Hosting Topology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Frontend SPA Hosting (Vercel):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React 19 single page application hosted on Vercel with vercel.json rewrite rules for seamless routing.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Backend REST API (Render):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Node.js / Express API hosted on Render PaaS with automated HTTPS and environment variable injection.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Database Tier (MongoDB Atlas):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Managed cloud replica set cluster featuring automated failover and IP access controls.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Live Frontend URL: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https://skillorbit-event-booking-system.vercel.app/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GitHub Repository: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https://github.com/VenkataKarthikeya-eng/skillorbit-event-booking-system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Build Optimization &amp; Zero Secrets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Sub-Second Production Build: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Vite compiles 2,556 modules in ~845 milliseconds with zero compilation errors or syntax warnings.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Lightweight Bundle Footprint: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Optimized production distribution footprint (246 kB gzipped JS, 6.7 kB gzipped CSS).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CORS Security Binding: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Backend allows origins strictly matched to frontend deployment URL, blocking unauthorized cross-origin requests.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Strict .gitignore Auditing: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Multi-layer git exclusions guarantee that .env files, Mongo passwords, and JWT secrets are never committed.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Self-Healing Health Checks: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GET /api/health actively monitors database connection status and server uptime.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21363B"/>
                </a:solidFill>
                <a:latin typeface="Sabon Next LT"/>
              </a:defRPr>
            </a:pPr>
            <a:r>
              <a:t>Limitations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8" name="TextBox 7"/>
          <p:cNvSpPr txBox="1"/>
          <p:nvPr/>
        </p:nvSpPr>
        <p:spPr>
          <a:xfrm>
            <a:off x="749808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58468"/>
                </a:solidFill>
                <a:latin typeface="Avenir Next LT Pro"/>
              </a:defRPr>
            </a:pPr>
            <a:r>
              <a:t>CURRENT BOUNDARIES &amp; VERSION 2.0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Current Project Boundaries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Simulated Payment Flow: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Ticket pricing is modeled and calculated, but live credit card or UPI transactions are simulated without real money exchange.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Single-Timezone Scheduling: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Event schedules are currently anchored to campus local time without dynamic multi-timezone conversion.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Binary Role Hierarchy: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Role-based access distinguishes attendees from administrators without intermediate volunteer/gatekeeper roles.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In-App Notifications Only: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Immediate toast alerts and modal passes are provided; external email/SMS dispatch is not connected in current scope.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General Admission Model: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System enforces venue capacity limits but does not support reserved seat numbers in specific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363B"/>
                </a:solidFill>
                <a:latin typeface="Sabon Next LT"/>
              </a:defRPr>
            </a:pPr>
            <a:r>
              <a:t>Version 2.0 Engineering Roadmap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Live Payment Gateway: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Integration of Stripe &amp; Razorpay webhook pipelines with automated escrow handling and refund processing.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Encrypted QR Mobile Scanning: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Cryptographically signed QR codes for gatekeeper mobile check-in verification with offline validation.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Email &amp; Calendar Dispatch: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SendGrid email integration delivering booking confirmations with attached .ics calendar invitations.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Interactive 2D/3D Seat Maps: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Visual SVG seating layouts allowing attendees to choose specific rows and seat numbers for auditoriums.</a:t>
            </a:r>
          </a:p>
          <a:p>
            <a:r>
              <a:rPr sz="1200" b="1">
                <a:solidFill>
                  <a:srgbClr val="21363B"/>
                </a:solidFill>
                <a:latin typeface="Avenir Next LT Pro"/>
              </a:rPr>
              <a:t>• Tiered Organizer Permissions: </a:t>
            </a:r>
            <a:r>
              <a:rPr sz="1200">
                <a:solidFill>
                  <a:srgbClr val="64748B"/>
                </a:solidFill>
                <a:latin typeface="Avenir Next LT Pro"/>
              </a:rPr>
              <a:t>Multi-tenant organizer portal enabling department-level event ownership and revenue splitting.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21363B"/>
                </a:solidFill>
                <a:latin typeface="Sabon Next LT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58468"/>
                </a:solidFill>
                <a:latin typeface="Avenir Next LT Pro"/>
              </a:defRPr>
            </a:pPr>
            <a:r>
              <a:t>SkillOrbit Event Booking &amp; Management System — 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363B"/>
                </a:solidFill>
                <a:latin typeface="Sabon Next LT"/>
              </a:defRPr>
            </a:pPr>
            <a:r>
              <a:t>Capstone Delivery Summary</a:t>
            </a:r>
          </a:p>
          <a:p>
            <a:r>
              <a:rPr sz="1150" b="1">
                <a:solidFill>
                  <a:srgbClr val="059669"/>
                </a:solidFill>
                <a:latin typeface="Avenir Next LT Pro"/>
              </a:rPr>
              <a:t>✔ Architecture: </a:t>
            </a:r>
            <a:r>
              <a:rPr sz="1150">
                <a:solidFill>
                  <a:srgbClr val="64748B"/>
                </a:solidFill>
                <a:latin typeface="Avenir Next LT Pro"/>
              </a:rPr>
              <a:t>Full-stack decoupled MERN application with React 19 and Node.js v20.</a:t>
            </a:r>
          </a:p>
          <a:p>
            <a:r>
              <a:rPr sz="1150" b="1">
                <a:solidFill>
                  <a:srgbClr val="059669"/>
                </a:solidFill>
                <a:latin typeface="Avenir Next LT Pro"/>
              </a:rPr>
              <a:t>✔ Concurrency Control: </a:t>
            </a:r>
            <a:r>
              <a:rPr sz="1150">
                <a:solidFill>
                  <a:srgbClr val="64748B"/>
                </a:solidFill>
                <a:latin typeface="Avenir Next LT Pro"/>
              </a:rPr>
              <a:t>Atomic database-level updates guarantee zero double-booking.</a:t>
            </a:r>
          </a:p>
          <a:p>
            <a:r>
              <a:rPr sz="1150" b="1">
                <a:solidFill>
                  <a:srgbClr val="059669"/>
                </a:solidFill>
                <a:latin typeface="Avenir Next LT Pro"/>
              </a:rPr>
              <a:t>✔ Stateless Security: </a:t>
            </a:r>
            <a:r>
              <a:rPr sz="1150">
                <a:solidFill>
                  <a:srgbClr val="64748B"/>
                </a:solidFill>
                <a:latin typeface="Avenir Next LT Pro"/>
              </a:rPr>
              <a:t>JWT Bearer authentication and strict Role-Based Access Control.</a:t>
            </a:r>
          </a:p>
          <a:p>
            <a:r>
              <a:rPr sz="1150" b="1">
                <a:solidFill>
                  <a:srgbClr val="059669"/>
                </a:solidFill>
                <a:latin typeface="Avenir Next LT Pro"/>
              </a:rPr>
              <a:t>✔ Verified Quality: </a:t>
            </a:r>
            <a:r>
              <a:rPr sz="1150">
                <a:solidFill>
                  <a:srgbClr val="64748B"/>
                </a:solidFill>
                <a:latin typeface="Avenir Next LT Pro"/>
              </a:rPr>
              <a:t>100% pass rate across 77 automated E2E integration test cases.</a:t>
            </a:r>
          </a:p>
          <a:p>
            <a:r>
              <a:rPr sz="1150" b="1">
                <a:solidFill>
                  <a:srgbClr val="059669"/>
                </a:solidFill>
                <a:latin typeface="Avenir Next LT Pro"/>
              </a:rPr>
              <a:t>✔ Live Deployment: </a:t>
            </a:r>
            <a:r>
              <a:rPr sz="1150">
                <a:solidFill>
                  <a:srgbClr val="64748B"/>
                </a:solidFill>
                <a:latin typeface="Avenir Next LT Pro"/>
              </a:rPr>
              <a:t>Production hosted on Vercel, Render, and MongoDB Atlas.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363B"/>
                </a:solidFill>
                <a:latin typeface="Sabon Next LT"/>
              </a:defRPr>
            </a:pPr>
            <a:r>
              <a:t>Evaluator Demo Credentials &amp; Links</a:t>
            </a:r>
          </a:p>
          <a:p>
            <a:pPr>
              <a:defRPr sz="1150" b="1">
                <a:solidFill>
                  <a:srgbClr val="1E3A8A"/>
                </a:solidFill>
                <a:latin typeface="Avenir Next LT Pro"/>
              </a:defRPr>
            </a:pPr>
            <a:r>
              <a:t>Administrator Demo Account:</a:t>
            </a:r>
          </a:p>
          <a:p>
            <a:pPr>
              <a:defRPr sz="1000">
                <a:solidFill>
                  <a:srgbClr val="21363B"/>
                </a:solidFill>
                <a:latin typeface="Consolas"/>
              </a:defRPr>
            </a:pPr>
            <a:r>
              <a:t>Email: admin@skillorbit.com  |  Password: AdminPassword123!</a:t>
            </a:r>
          </a:p>
          <a:p>
            <a:pPr>
              <a:defRPr sz="1150" b="1">
                <a:solidFill>
                  <a:srgbClr val="1E3A8A"/>
                </a:solidFill>
                <a:latin typeface="Avenir Next LT Pro"/>
              </a:defRPr>
            </a:pPr>
            <a:r>
              <a:t>Student Attendee Demo Account:</a:t>
            </a:r>
          </a:p>
          <a:p>
            <a:pPr>
              <a:defRPr sz="1000">
                <a:solidFill>
                  <a:srgbClr val="21363B"/>
                </a:solidFill>
                <a:latin typeface="Consolas"/>
              </a:defRPr>
            </a:pPr>
            <a:r>
              <a:t>Email: student@skillorbit.com  |  Password: StudentPassword123!</a:t>
            </a:r>
          </a:p>
          <a:p>
            <a:pPr>
              <a:defRPr sz="1150" b="1">
                <a:solidFill>
                  <a:srgbClr val="758468"/>
                </a:solidFill>
                <a:latin typeface="Avenir Next LT Pro"/>
              </a:defRPr>
            </a:pPr>
            <a:r>
              <a:t>Live Deployment URL:</a:t>
            </a:r>
          </a:p>
          <a:p>
            <a:pPr>
              <a:defRPr sz="1050">
                <a:solidFill>
                  <a:srgbClr val="1E3A8A"/>
                </a:solidFill>
                <a:latin typeface="Avenir Next LT Pro"/>
              </a:defRPr>
            </a:pPr>
            <a:r>
              <a:t>https://skillorbit-event-booking-system.vercel.app/</a:t>
            </a:r>
          </a:p>
          <a:p>
            <a:pPr>
              <a:defRPr sz="1150" b="1">
                <a:solidFill>
                  <a:srgbClr val="758468"/>
                </a:solidFill>
                <a:latin typeface="Avenir Next LT Pro"/>
              </a:defRPr>
            </a:pPr>
            <a:r>
              <a:t>GitHub Repository:</a:t>
            </a:r>
          </a:p>
          <a:p>
            <a:pPr>
              <a:defRPr sz="1050">
                <a:solidFill>
                  <a:srgbClr val="1E3A8A"/>
                </a:solidFill>
                <a:latin typeface="Avenir Next LT Pro"/>
              </a:defRPr>
            </a:pPr>
            <a:r>
              <a:t>https://github.com/VenkataKarthikeya-eng/skillorbit-event-booking-system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_win32_JB_SL_v2.potx" id="{ADBA094C-A0EC-4C0A-B446-BFAC587CD452}" vid="{5D925AC9-0F62-4DD1-AF7D-A39A21A96B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8EF3A0-5A01-4576-8764-452FD3A2CB7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41377AF-B80E-4F93-8088-50DE225F34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41D0F8-A96E-436B-B6A7-2AFF6F30F9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Dappled design</Template>
  <TotalTime>78</TotalTime>
  <Words>1409</Words>
  <Application>Microsoft Office PowerPoint</Application>
  <PresentationFormat>Widescreen</PresentationFormat>
  <Paragraphs>412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Avenir Next LT Pro</vt:lpstr>
      <vt:lpstr>AvenirNext LT Pro Medium</vt:lpstr>
      <vt:lpstr>Calibri</vt:lpstr>
      <vt:lpstr>Posterama</vt:lpstr>
      <vt:lpstr>Sabon Next LT</vt:lpstr>
      <vt:lpstr>Segoe UI Semilight</vt:lpstr>
      <vt:lpstr>DappledVTI</vt:lpstr>
      <vt:lpstr>AI-BASED HYDROPONIC CROP MONITORING AND YIELD PREDICTION SYSTEM</vt:lpstr>
      <vt:lpstr>Problem Statement</vt:lpstr>
      <vt:lpstr>Proposed Solution</vt:lpstr>
      <vt:lpstr>Project Objectives</vt:lpstr>
      <vt:lpstr>System Architecture</vt:lpstr>
      <vt:lpstr>Dataset</vt:lpstr>
      <vt:lpstr>PowerPoint Presentation</vt:lpstr>
      <vt:lpstr>Machine Learning Models</vt:lpstr>
      <vt:lpstr>Plant Doctor</vt:lpstr>
      <vt:lpstr>Plant Doctor Results</vt:lpstr>
      <vt:lpstr>Yield Prediction</vt:lpstr>
      <vt:lpstr>Yield Prediction Results</vt:lpstr>
      <vt:lpstr>Informed Digital Twin</vt:lpstr>
      <vt:lpstr>Digital Twin Results</vt:lpstr>
      <vt:lpstr>Web Application</vt:lpstr>
      <vt:lpstr>Backend, Database &amp; Engineering</vt:lpstr>
      <vt:lpstr>Engineering Challenges &amp; Solutions</vt:lpstr>
      <vt:lpstr>Complete Project Results</vt:lpstr>
      <vt:lpstr>Conclusion &amp; 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Karthikeya cherukuri</dc:creator>
  <cp:lastModifiedBy>Karthikeya cherukuri</cp:lastModifiedBy>
  <cp:revision>1</cp:revision>
  <dcterms:created xsi:type="dcterms:W3CDTF">2026-09-06T19:30:15Z</dcterms:created>
  <dcterms:modified xsi:type="dcterms:W3CDTF">2026-09-08T09:01:20Z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